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https://www.kurz-world.com/en/solutions/embellishment-machines/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https://eco3.com/news/elio-digital-label-printer-press-release
https://www.labelsandlabeling.com/labels/labels/labels/labels/labels/news/finishing-embellishment/grafivedras-installs-hontec-label-finisher
https://www.univacco.com/news/Gin-Label-Design-with-Transparent-Holographic-Cold-Transfer.html
https://www.labelsandlabeling.com/labels/news/conventional-printing/mark-andy-shows-productivity-loupe
https://www.labelsandlabeling.com/labels/labels/news/plates-platemaking/ruey-chang-expands-ecg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https://eco3.com/news/elio-digital-label-printer-press-release
https://www.labelsandlabeling.com/labels/labels/labels/labels/labels/news/finishing-embellishment/grafivedras-installs-hontec-label-finisher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https://www.loupe-americas.com/americas/loupe-americas-2026-sets-new-benchmark-label-and-package-printing-industry
https://www.apitransfer.com/en/home-en
https://www.katani.co.jp/english/hotstamp
https://www.kurz-world.com/en/solutions/embellishment-machines/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https://www.labelsandlabeling.com/
https://environment.ec.europa.eu/news/new-eu-rules-packaging-enter-application-2026-08-11_en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https://eco3.com/news/elio-digital-label-printer-press-release
https://www.labelsandlabeling.com/labels/labels/labels/labels/labels/news/finishing-embellishment/grafivedras-installs-hontec-label-finisher
https://www.univacco.com/news/Gin-Label-Design-with-Transparent-Holographic-Cold-Transfer.html
https://www.labelsandlabeling.com/labels/news/conventional-printing/mark-andy-shows-productivity-loupe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https://eco3.com/news/elio-digital-label-printer-press-release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https://eco3.com/news/elio-digital-label-printer-press-release
https://www.labelsandlabeling.com/labels/labels/labels/labels/labels/news/finishing-embellishment/grafivedras-installs-hontec-label-finisher
https://www.univacco.com/news/Gin-Label-Design-with-Transparent-Holographic-Cold-Transfer.html
https://www.labelsandlabeling.com/labels/news/conventional-printing/mark-andy-shows-productivity-loupe
https://www.labelsandlabeling.com/labels/labels/news/plates-platemaking/ruey-chang-expands-ecg
https://www.kurz-world.com/en/solutions/embellishment-machines/
https://www.apitransfer.com/en/home-en
https://www.katani.co.jp/english/hotstamp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oil-tech-intelligence/foil-tech-intelligence/assets/univacco_cover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home/runner/work/foil-tech-intelligence/foil-tech-intelligence/assets/univacco_whi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338328"/>
            <a:ext cx="2148840" cy="3337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325880"/>
            <a:ext cx="5897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印刷產業與燙金箔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技術情報月度報告</a:t>
            </a:r>
            <a:endParaRPr lang="en-US" sz="3100" dirty="0"/>
          </a:p>
        </p:txBody>
      </p:sp>
      <p:sp>
        <p:nvSpPr>
          <p:cNvPr id="5" name="Text 1"/>
          <p:cNvSpPr/>
          <p:nvPr/>
        </p:nvSpPr>
        <p:spPr>
          <a:xfrm>
            <a:off x="5522976" y="3127248"/>
            <a:ext cx="5715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F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2026-10｜系統測試（非正式月報）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5522976" y="37947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產業技術 × 競品觀察 × 材料與品質驗證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522976" y="539496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B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公開資料研究｜非產品規格或正式對外保證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管理摘要｜三項值得採取的技術行動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 的重要公開技術進展需結合材料驗證與品保決策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" y="1682496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" y="1828800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82880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01｜數位印後裝飾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2104" y="2231136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傳統與數位冷燙的接著模式可能不同，應避免直接套用單一材料規格。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4315968" y="1682496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1828800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9432" y="182880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02｜UV 油墨與固化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90288" y="2231136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新的油墨訴求提高固化與遷移管控重要性，需將客戶製程條件納入測試。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074152" y="1682496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0456" y="1828800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57616" y="1828800"/>
            <a:ext cx="3145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03｜客戶使用檢驗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48472" y="2231136"/>
            <a:ext cx="3108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從固定位置的 L*／色差／缺陷判定，建立與實際印刷效果的關聯性。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594360" y="4443984"/>
            <a:ext cx="3154680" cy="292608"/>
          </a:xfrm>
          <a:prstGeom prst="roundRect">
            <a:avLst>
              <a:gd name="adj" fmla="val 28125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480560"/>
            <a:ext cx="2990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Ta｜5 則本期公開資訊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959352" y="4443984"/>
            <a:ext cx="3840480" cy="292608"/>
          </a:xfrm>
          <a:prstGeom prst="roundRect">
            <a:avLst>
              <a:gd name="adj" fmla="val 28125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50792" y="4480560"/>
            <a:ext cx="3675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Target｜建立可重複驗證方法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001000" y="4443984"/>
            <a:ext cx="3108960" cy="292608"/>
          </a:xfrm>
          <a:prstGeom prst="roundRect">
            <a:avLst>
              <a:gd name="adj" fmla="val 28125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92440" y="4480560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Time｜2026-10 研究期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決策：同意以「UV相容性、檢驗一致性、被印材資料庫」作為 3 項優先可行性評估。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技術發展｜本月兩項重要新聞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標籤印刷正走向數位噴墨、柔版與印後裝飾整合；燙金箔需以實際設備配置驗證轉印相容性。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673352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1819656"/>
            <a:ext cx="5065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本月技術 01｜ECO3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2221992"/>
            <a:ext cx="502920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標籤印刷正走向數位噴墨、柔版與印後裝飾整合；燙金箔需以實際設備配置驗證轉印相容性。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217920" y="1673352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64224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01384" y="1819656"/>
            <a:ext cx="49743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本月技術 02｜Hontec / Grafivedras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2221992"/>
            <a:ext cx="493776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高階酒標加工強調一站式整合熱燙、觸感加工與後製；熱燙箔要同時滿足細節、附著及後加工耐性。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749808" y="4983480"/>
            <a:ext cx="10607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技術驗證：上膠量 × 固化條件 × 速度，量測轉印率／L*／缺陷比例。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行動：研發與品保先制定跨材料、跨設備的冷燙應用參數測試卡。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品質系統｜量測位置與判定一致性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從單點數值合格，升級為「版面位置化」的亮度與缺陷檢驗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" y="1664208"/>
            <a:ext cx="62179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" y="1810512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810512"/>
            <a:ext cx="5797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印刷品質管理的參考方向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0392" y="2212848"/>
            <a:ext cx="5760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技術背景：指定量測位置、統一色彩標準及品質報表，是實際使用結果比較的必要基礎。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931152" y="1664208"/>
            <a:ext cx="46634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77456" y="1810512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14616" y="1810512"/>
            <a:ext cx="4242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材料供應商可借鏡的方向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05472" y="2212848"/>
            <a:ext cx="42062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固定照明與視角，保留位置資訊，區分 ΔE、亮度與缺陷面積。</a:t>
            </a:r>
            <a:endParaRPr lang="en-US" sz="1280" dirty="0"/>
          </a:p>
        </p:txBody>
      </p:sp>
      <p:sp>
        <p:nvSpPr>
          <p:cNvPr id="17" name="Text 14"/>
          <p:cNvSpPr/>
          <p:nvPr/>
        </p:nvSpPr>
        <p:spPr>
          <a:xfrm>
            <a:off x="658368" y="3712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建議驗證流程（尚非既有公司作業）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2648" y="42519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F0F6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44988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樣品與圖案編碼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74136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3520440" y="4251960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66744" y="44988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固定量測位置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81928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6446520" y="4251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F0F6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92824" y="44988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影像／L*／目視盲測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116568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300" dirty="0"/>
          </a:p>
        </p:txBody>
      </p:sp>
      <p:sp>
        <p:nvSpPr>
          <p:cNvPr id="27" name="Shape 24"/>
          <p:cNvSpPr/>
          <p:nvPr/>
        </p:nvSpPr>
        <p:spPr>
          <a:xfrm>
            <a:off x="9217152" y="4251960"/>
            <a:ext cx="239572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7620">
            <a:solidFill>
              <a:srgbClr val="CCDD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63456" y="4498848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C478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一致性與客戶效果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行動：至少 30 件代表樣品進行目視盲測與位置化量測，確認漏判與誤判情形。</a:t>
            </a:r>
            <a:endParaRPr lang="en-US" sz="1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競爭廠商｜比較公開技術布局，而非猜測性能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以公開產品／設備資訊建立競品比較基準，避免將舊資料當作本月新公告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673352"/>
            <a:ext cx="10991088" cy="1014984"/>
          </a:xfrm>
          <a:prstGeom prst="roundRect">
            <a:avLst>
              <a:gd name="adj" fmla="val 8108"/>
            </a:avLst>
          </a:prstGeom>
          <a:solidFill>
            <a:srgbClr val="F4F8FF"/>
          </a:solidFill>
          <a:ln w="7620">
            <a:solidFill>
              <a:srgbClr val="E0EA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1856232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LEONHARD KURZ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66744" y="17922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F5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熱燙、冷轉印、數位 2D/3D 裝飾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1755648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86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對比數位上膠／套準條件下的薄膜離型與金屬光學表現。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2304288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2026-10-11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" y="2852928"/>
            <a:ext cx="10991088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7620">
            <a:solidFill>
              <a:srgbClr val="E0EA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3035808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Foilmakers / API Transfer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66744" y="2971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F5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熱燙、單張冷轉印、窄幅冷轉印、數位箔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06640" y="2935224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86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建立應用情境與可印材類別比較表，避免只有牌號對牌號比較。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" y="3483864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2026-10-11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4360" y="4032504"/>
            <a:ext cx="10991088" cy="1014984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7620">
            <a:solidFill>
              <a:srgbClr val="E0EA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4215384"/>
            <a:ext cx="2843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KATANI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66744" y="41513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F5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金屬色、顏料型、全像、冷燙及特殊紋理箔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06640" y="4114800"/>
            <a:ext cx="3840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86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比較差異化外觀效果所需的客戶檢驗標準與基材相容性。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32688" y="466344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2026-10-11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5312664"/>
            <a:ext cx="10972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資料時窗：KURZ 近期展會內容為 2026/09；API／KATANI 以官網產品頁作為背景資料，非本週新品。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決策：以「應用條件 × 轉印效果 × 檢驗方法」建立競品技術對照表，不做未經測試的優劣判定。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材料與法規｜新被印材帶來相容性與證據需求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永續包裝相關材料發展，不能直接當作燙金箔可回收性或法規符合的證明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" y="1673352"/>
            <a:ext cx="5431536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1819656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金屬化 BOPP 包裝薄膜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9536" y="2221992"/>
            <a:ext cx="497433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阻隔型金屬化薄膜與轉印裝飾箔用途不同，避免直接替換或簡化比較。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190488" y="1673352"/>
            <a:ext cx="5431536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36792" y="1819656"/>
            <a:ext cx="45720" cy="32004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819656"/>
            <a:ext cx="5010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生質來源合成紙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221992"/>
            <a:ext cx="497433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2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新型表面塗層／填料可能改變界面潤濕與轉印性，應建立應用條件資料。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594360" y="4251960"/>
            <a:ext cx="10991088" cy="896112"/>
          </a:xfrm>
          <a:prstGeom prst="roundRect">
            <a:avLst>
              <a:gd name="adj" fmla="val 9184"/>
            </a:avLst>
          </a:prstGeom>
          <a:solidFill>
            <a:srgbClr val="F8FAFE"/>
          </a:solidFill>
          <a:ln w="762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" y="43525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區分三種證據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926080" y="4334256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85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化學符合性  ≠  實際回收性  ≠  材料轉印適用性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行動：針對新基材先測表面能、粗糙度、耐熱與轉印率；環保宣稱另由合規證據支持。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建議工作清單｜先做 3 項小型驗證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先取得可重複的使用證據，再決定是否納入正式規格或新產品專案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673352"/>
            <a:ext cx="10991088" cy="43891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1764792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79776" y="17647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技術／實驗方法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17647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協作單位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833104" y="17647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34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驗收證據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2112264"/>
            <a:ext cx="10991088" cy="1133856"/>
          </a:xfrm>
          <a:prstGeom prst="rect">
            <a:avLst/>
          </a:prstGeom>
          <a:solidFill>
            <a:srgbClr val="F9FBFE"/>
          </a:solidFill>
          <a:ln w="12700">
            <a:solidFill>
              <a:srgbClr val="F9FBF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2249424"/>
            <a:ext cx="1856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高｜設計材料／客戶印刷條件對照測試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79776" y="2221992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61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固定兩種代表基材與材料批次，分層比較關鍵機台參數；量測轉印率、亮度、缺陷比例。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6025896" y="2258568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6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研發＋品保＋製程技術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14816" y="2221992"/>
            <a:ext cx="24871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05D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建立代表條件測試矩陣並重複確認，形成對外應用條件說明。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30936" y="3227832"/>
            <a:ext cx="10899648" cy="0"/>
          </a:xfrm>
          <a:prstGeom prst="line">
            <a:avLst/>
          </a:prstGeom>
          <a:noFill/>
          <a:ln w="10160">
            <a:solidFill>
              <a:srgbClr val="E5EB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3383280"/>
            <a:ext cx="1856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高｜檢驗方式與客戶效果的一致性評估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79776" y="3355848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61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≥30 件正常與異常樣品，固定視角／量測位置並執行盲測；比較屬性判定與數值指標。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6025896" y="3392424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6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品保＋研發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814816" y="3355848"/>
            <a:ext cx="24871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05D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完成一致性分析與漏判／誤判評估，提出方法改善建議。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30936" y="4361688"/>
            <a:ext cx="10899648" cy="0"/>
          </a:xfrm>
          <a:prstGeom prst="line">
            <a:avLst/>
          </a:prstGeom>
          <a:noFill/>
          <a:ln w="10160">
            <a:solidFill>
              <a:srgbClr val="E5EB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" y="4379976"/>
            <a:ext cx="10991088" cy="1133856"/>
          </a:xfrm>
          <a:prstGeom prst="rect">
            <a:avLst/>
          </a:prstGeom>
          <a:solidFill>
            <a:srgbClr val="F9FBFE"/>
          </a:solidFill>
          <a:ln w="12700">
            <a:solidFill>
              <a:srgbClr val="F9FBF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" y="4517136"/>
            <a:ext cx="18562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13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中｜技術情報與產品應用需求對照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779776" y="4489704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B61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將本週技術對照預期應用情境、材料 CTQ、競品功能及可取得的驗證資源。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6025896" y="4526280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16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研發＋業務＋品保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14816" y="4489704"/>
            <a:ext cx="248716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05D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完成一頁式技術需求與驗證優先順序建議。</a:t>
            </a:r>
            <a:endParaRPr lang="en-US" sz="1220" dirty="0"/>
          </a:p>
        </p:txBody>
      </p:sp>
      <p:sp>
        <p:nvSpPr>
          <p:cNvPr id="30" name="Shape 27"/>
          <p:cNvSpPr/>
          <p:nvPr/>
        </p:nvSpPr>
        <p:spPr>
          <a:xfrm>
            <a:off x="630936" y="5495544"/>
            <a:ext cx="10899648" cy="0"/>
          </a:xfrm>
          <a:prstGeom prst="line">
            <a:avLst/>
          </a:prstGeom>
          <a:noFill/>
          <a:ln w="10160">
            <a:solidFill>
              <a:srgbClr val="E5EBF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5869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本表為建議優先序及驗收方式，尚未指派正式責任人與完成期限。</a:t>
            </a:r>
            <a:endParaRPr lang="en-US" sz="1070" dirty="0"/>
          </a:p>
        </p:txBody>
      </p:sp>
      <p:sp>
        <p:nvSpPr>
          <p:cNvPr id="32" name="Shape 29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決策：請主管確認三個驗證主題的優先序、可用樣品與負責窗口。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持續學習｜技術情報需轉換成驗證能力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技術教學應聚焦客戶真正看見的轉印品質與材料檢驗的關聯性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MONTHLY TECHNOLOGY INTELLIGENCE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" y="1673352"/>
            <a:ext cx="6903720" cy="3310128"/>
          </a:xfrm>
          <a:prstGeom prst="roundRect">
            <a:avLst>
              <a:gd name="adj" fmla="val 2486"/>
            </a:avLst>
          </a:prstGeom>
          <a:solidFill>
            <a:srgbClr val="F4F8FF"/>
          </a:solidFill>
          <a:ln w="7620">
            <a:solidFill>
              <a:srgbClr val="E1EB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856232"/>
            <a:ext cx="5669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本月延伸學習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58568"/>
            <a:ext cx="6263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40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主要印刷方式與冷燙工藝配置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3172968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柔版、平版、凹版與數位印刷各有不同供墨、圖文形成及線上加工方式，冷燙單元的配置須依機台而定。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662672" y="1673352"/>
            <a:ext cx="3941064" cy="3310128"/>
          </a:xfrm>
          <a:prstGeom prst="roundRect">
            <a:avLst>
              <a:gd name="adj" fmla="val 2486"/>
            </a:avLst>
          </a:prstGeom>
          <a:solidFill>
            <a:srgbClr val="FFFFFF"/>
          </a:solidFill>
          <a:ln w="7620">
            <a:solidFill>
              <a:srgbClr val="E4EB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0416" y="190195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每週標準學習循環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918704" y="242316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了解技術原理與工藝條件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18704" y="2889504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解讀新聞與競品應用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18704" y="3355848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建立可能的品質風險假設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18704" y="3822192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55F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以 DOE / MSA / 使用測試驗證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52852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 30 天內：完成一份應用條件對照表與至少一項試驗設計。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行動：每週保留 20 分鐘技術學習與案例討論，月底回顧可驗證的改善成果。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38328"/>
            <a:ext cx="73152" cy="502920"/>
          </a:xfrm>
          <a:prstGeom prst="rect">
            <a:avLst/>
          </a:prstGeom>
          <a:solidFill>
            <a:srgbClr val="146EFF"/>
          </a:solidFill>
          <a:ln w="12700">
            <a:solidFill>
              <a:srgbClr val="146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29184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6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附錄｜來源、範圍與使用限制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9496" y="8869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研究資料僅供技術研習及管理討論，不能取代產品驗證或正式法規判定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" y="1389888"/>
            <a:ext cx="11018520" cy="0"/>
          </a:xfrm>
          <a:prstGeom prst="line">
            <a:avLst/>
          </a:prstGeom>
          <a:noFill/>
          <a:ln w="12700">
            <a:solidFill>
              <a:srgbClr val="DCE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4830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SOURCES &amp; EVIDENCE BOUNDARIES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668426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 © 2026 Univacco Technology Inc. All rights reserved.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6032" y="640080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6276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4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ECO3 官方公告（10/6）｜ECO3 推出 ELIO 數位標籤印刷機，複合機型可整合柔版與冷燙加工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685800" y="212140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Labels &amp; Labeling｜葡萄牙標籤廠導入 Hontec MPX350，整合熱燙、壓凸與模切加工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685800" y="2615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4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UNIVACCO 官網案例｜岱稜透明全像冷燙酒標案例：保留底圖細節並增加視角光學效果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685800" y="310896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621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Labels &amp; Labeling｜Mark Andy 展示柔版與數位複合印刷機，強調高速檢測及產線整合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85800" y="36027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4E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Labels &amp; Labeling｜台灣包裝印刷廠擴充 ECG 柔版產線，導入自動化製版與新印刷設備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676656" y="4919472"/>
            <a:ext cx="108447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B46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判讀原則：供應商宣稱 ≠ 獨立量測結果；應用風險為分析假設，需實際印刷驗證。</a:t>
            </a:r>
            <a:endParaRPr lang="en-US" sz="1360" dirty="0"/>
          </a:p>
        </p:txBody>
      </p:sp>
      <p:sp>
        <p:nvSpPr>
          <p:cNvPr id="15" name="Text 12"/>
          <p:cNvSpPr/>
          <p:nvPr/>
        </p:nvSpPr>
        <p:spPr>
          <a:xfrm>
            <a:off x="676656" y="5449824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71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資料範圍：2026-10｜網站公開資訊；報告之建議項目尚非公司核准工作事項。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30352" y="5980176"/>
            <a:ext cx="11155680" cy="365760"/>
          </a:xfrm>
          <a:prstGeom prst="roundRect">
            <a:avLst>
              <a:gd name="adj" fmla="val 22500"/>
            </a:avLst>
          </a:prstGeom>
          <a:solidFill>
            <a:srgbClr val="F0F6FF"/>
          </a:solidFill>
          <a:ln w="7620">
            <a:solidFill>
              <a:srgbClr val="F0F6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" y="6044184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358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👉 決策：發布對外資料前由業務、品保及法規窗口再核對來源與聲明依據。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Univacco Technology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 燙金箔技術情報系統測試</dc:title>
  <dc:subject>公開產業情報、技術應用、品保與研發決策</dc:subject>
  <dc:creator>印刷與燙金箔技術情報中心</dc:creator>
  <cp:lastModifiedBy>印刷與燙金箔技術情報中心</cp:lastModifiedBy>
  <cp:revision>1</cp:revision>
  <dcterms:created xsi:type="dcterms:W3CDTF">2026-10-15T05:27:56Z</dcterms:created>
  <dcterms:modified xsi:type="dcterms:W3CDTF">2026-10-15T05:27:56Z</dcterms:modified>
</cp:coreProperties>
</file>